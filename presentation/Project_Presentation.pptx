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1" dt="2026-10-11T12:06:18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98480" cy="1371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Retail Transaction</a:t>
            </a:r>
          </a:p>
          <a:p>
            <a:pPr algn="l"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987552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CCE0F1"/>
                </a:solidFill>
                <a:latin typeface="Aptos"/>
              </a:defRPr>
            </a:pPr>
            <a:r>
              <a:t>From raw retail transactions to actionable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87552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Capstone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987552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CCE0F1"/>
                </a:solidFill>
                <a:latin typeface="Aptos"/>
              </a:defRPr>
            </a:pPr>
            <a:r>
              <a:t>ETL  •  Data Quality  •  MySQL  •  FastAPI  •  React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987552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Project scope: transactional analytics and dashboarding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28816"/>
            <a:ext cx="987552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Retail Transaction Analytics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457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9526C0-26F2-BE81-18C2-67A62B97E96D}"/>
              </a:ext>
            </a:extLst>
          </p:cNvPr>
          <p:cNvSpPr txBox="1"/>
          <p:nvPr/>
        </p:nvSpPr>
        <p:spPr>
          <a:xfrm>
            <a:off x="732061" y="5365979"/>
            <a:ext cx="47421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Suriya R PU Batch -4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Problem Statement &amp; Business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005840" cy="50292"/>
          </a:xfrm>
          <a:prstGeom prst="rect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34924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618488"/>
            <a:ext cx="5020055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20824"/>
            <a:ext cx="5020055" cy="12344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Retail transactions arrive as large spreadsheet datasets. Missing customer IDs, duplicate rows, cancellations, and zero/negative values make direct analysis unreliable.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34924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618488"/>
            <a:ext cx="5020055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Business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020824"/>
            <a:ext cx="5020055" cy="12344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Decision-makers need consistent sales, product, and customer views to identify trends, compare performance, and reduce manual spreadsheet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10515600" cy="1828800"/>
          </a:xfrm>
          <a:prstGeom prst="rect">
            <a:avLst/>
          </a:prstGeom>
          <a:noFill/>
        </p:spPr>
        <p:txBody>
          <a:bodyPr wrap="square" lIns="73152" tIns="36576" rIns="36576" bIns="1828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Convert raw data into a clean, queryable analytical dataset.</a:t>
            </a:r>
          </a:p>
          <a:p>
            <a:pPr>
              <a:spcAft>
                <a:spcPts val="10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Provide reusable APIs for the dashboard and product workflows.</a:t>
            </a:r>
          </a:p>
          <a:p>
            <a:pPr>
              <a:spcAft>
                <a:spcPts val="10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•  Present summary metrics and trends in one interface.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28816"/>
            <a:ext cx="987552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Retail Transaction Analytics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28816"/>
            <a:ext cx="457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" y="1016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005840" cy="50292"/>
          </a:xfrm>
          <a:prstGeom prst="rect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0116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938528"/>
            <a:ext cx="168249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Excel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40864"/>
            <a:ext cx="168249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Online Retail 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828800"/>
            <a:ext cx="20116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36392" y="1938528"/>
            <a:ext cx="168249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Python ETL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340864"/>
            <a:ext cx="168249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Validate &amp; transform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828800"/>
            <a:ext cx="20116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13831" y="1938528"/>
            <a:ext cx="168249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3831" y="2340864"/>
            <a:ext cx="168249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Parquet + MySQL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828800"/>
            <a:ext cx="173736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91271" y="1938528"/>
            <a:ext cx="14081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2340864"/>
            <a:ext cx="14081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REST endpoints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1828800"/>
            <a:ext cx="17830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94392" y="1938528"/>
            <a:ext cx="1453895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React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94392" y="2340864"/>
            <a:ext cx="1453895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606040" y="2084831"/>
            <a:ext cx="310896" cy="310896"/>
          </a:xfrm>
          <a:prstGeom prst="rightArrow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4983480" y="2084831"/>
            <a:ext cx="310896" cy="310896"/>
          </a:xfrm>
          <a:prstGeom prst="rightArrow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7360920" y="2084831"/>
            <a:ext cx="310896" cy="310896"/>
          </a:xfrm>
          <a:prstGeom prst="rightArrow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9464040" y="2084831"/>
            <a:ext cx="310896" cy="310896"/>
          </a:xfrm>
          <a:prstGeom prst="rightArrow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4400" y="3657600"/>
            <a:ext cx="466344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" y="3767328"/>
            <a:ext cx="4334255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C68A8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169664"/>
            <a:ext cx="4334255" cy="5486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JWT-based login and role-based authorization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657600"/>
            <a:ext cx="466344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3767328"/>
            <a:ext cx="4334255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DD8431"/>
                </a:solidFill>
                <a:latin typeface="Aptos"/>
              </a:defRPr>
            </a:pPr>
            <a:r>
              <a:t>Analytics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169664"/>
            <a:ext cx="4334255" cy="5486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Overview, sales, customer, and product pages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10241280" cy="5486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A"/>
                </a:solidFill>
                <a:latin typeface="Aptos"/>
              </a:defRPr>
            </a:pPr>
            <a:r>
              <a:t>The architecture reflects the implemented application; it does not include an LLM, vector database, or agent layer.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528816"/>
            <a:ext cx="987552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Retail Transaction Analytics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28816"/>
            <a:ext cx="457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Solution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005840" cy="50292"/>
          </a:xfrm>
          <a:prstGeom prst="rect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852160" cy="4389120"/>
          </a:xfrm>
          <a:prstGeom prst="rect">
            <a:avLst/>
          </a:prstGeom>
          <a:noFill/>
        </p:spPr>
        <p:txBody>
          <a:bodyPr wrap="square" lIns="73152" tIns="36576" rIns="36576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Combined both sheets from Online Retail II into one dataset.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Validated and transformed records with a repeatable Python ETL pipeline.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Saved processed data as Parquet and loaded cleaned records into MySQL.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Built FastAPI endpoints for authentication and product access.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Created a React/Vite dashboard with Overview, Sales Analytics, Customer Analytics, and Product Management pages.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Applied JWT authentication and role-based access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66344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22592" y="1755648"/>
            <a:ext cx="4334255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C68A8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2592" y="2157984"/>
            <a:ext cx="4334255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Parquet files + MySQL transactions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063240"/>
            <a:ext cx="466344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22592" y="3172968"/>
            <a:ext cx="4334255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API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592" y="3575304"/>
            <a:ext cx="4334255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FastAPI + JWT + role permissions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480560"/>
            <a:ext cx="466344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22592" y="4590288"/>
            <a:ext cx="4334255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DD8431"/>
                </a:solidFill>
                <a:latin typeface="Aptos"/>
              </a:defRPr>
            </a:pPr>
            <a:r>
              <a:t>Presentation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4992624"/>
            <a:ext cx="4334255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React/Vite interactive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28816"/>
            <a:ext cx="987552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Retail Transaction Analytics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28816"/>
            <a:ext cx="457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005840" cy="50292"/>
          </a:xfrm>
          <a:prstGeom prst="rect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33756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664207"/>
            <a:ext cx="30083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1. Extract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066543"/>
            <a:ext cx="3008376" cy="6400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Read 2 Excel sheets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54480"/>
            <a:ext cx="333756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90872" y="1664207"/>
            <a:ext cx="30083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2.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066543"/>
            <a:ext cx="3008376" cy="6400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Check schema and data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554480"/>
            <a:ext cx="333756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31352" y="1664207"/>
            <a:ext cx="30083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3.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2066543"/>
            <a:ext cx="3008376" cy="6400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Normalize fields and derive transaction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39"/>
            <a:ext cx="333756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630168"/>
            <a:ext cx="3008376" cy="507831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500" b="1">
                <a:solidFill>
                  <a:srgbClr val="238285"/>
                </a:solidFill>
                <a:latin typeface="Aptos"/>
              </a:defRPr>
            </a:pPr>
            <a:r>
              <a:rPr lang="en-US"/>
              <a:t>6. Serve</a:t>
            </a:r>
            <a:endParaRPr lang="en-US">
              <a:solidFill>
                <a:srgbClr val="000000"/>
              </a:solidFill>
            </a:endParaRPr>
          </a:p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50392" y="4032504"/>
            <a:ext cx="3008376" cy="41549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200" b="0">
                <a:solidFill>
                  <a:srgbClr val="232D3A"/>
                </a:solidFill>
                <a:latin typeface="Aptos"/>
              </a:defRPr>
            </a:pPr>
            <a:r>
              <a:rPr lang="en-US" dirty="0" err="1"/>
              <a:t>FastAPI</a:t>
            </a:r>
            <a:r>
              <a:rPr lang="en-US" dirty="0"/>
              <a:t> supplies data to React dashboard</a:t>
            </a:r>
            <a:endParaRPr lang="en-US" dirty="0">
              <a:solidFill>
                <a:srgbClr val="000000"/>
              </a:solidFill>
            </a:endParaRPr>
          </a:p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4526280" y="3520439"/>
            <a:ext cx="333756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90872" y="3630168"/>
            <a:ext cx="30083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5.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4032504"/>
            <a:ext cx="3008376" cy="6400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Write Parquet and load MySQL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520439"/>
            <a:ext cx="333756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31352" y="3630168"/>
            <a:ext cx="3008376" cy="276999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rPr lang="en-US"/>
              <a:t>4.clean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531352" y="4032504"/>
            <a:ext cx="3008376" cy="600164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defRPr sz="1200" b="0">
                <a:solidFill>
                  <a:srgbClr val="232D3A"/>
                </a:solidFill>
                <a:latin typeface="Aptos"/>
              </a:defRPr>
            </a:pPr>
            <a:r>
              <a:rPr lang="en-US" dirty="0"/>
              <a:t>Remove duplicate records and </a:t>
            </a:r>
            <a:r>
              <a:rPr lang="en-US" dirty="0" err="1"/>
              <a:t>handleinvalid</a:t>
            </a:r>
            <a:r>
              <a:rPr lang="en-US" dirty="0"/>
              <a:t> rows</a:t>
            </a:r>
            <a:endParaRPr lang="en-US" dirty="0">
              <a:solidFill>
                <a:srgbClr val="000000"/>
              </a:solidFill>
            </a:endParaRPr>
          </a:p>
          <a:p>
            <a:pPr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777240" y="5715000"/>
            <a:ext cx="1051560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17365D"/>
                </a:solidFill>
                <a:latin typeface="Aptos"/>
              </a:defRPr>
            </a:pPr>
            <a:r>
              <a:t>ETL command: python run_etl.py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28816"/>
            <a:ext cx="987552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Retail Transaction Analytics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28816"/>
            <a:ext cx="457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Right Arrow 19">
            <a:extLst>
              <a:ext uri="{FF2B5EF4-FFF2-40B4-BE49-F238E27FC236}">
                <a16:creationId xmlns:a16="http://schemas.microsoft.com/office/drawing/2014/main" id="{1DCC2B07-2B74-CF5B-313D-37E550A9B69E}"/>
              </a:ext>
            </a:extLst>
          </p:cNvPr>
          <p:cNvSpPr/>
          <p:nvPr/>
        </p:nvSpPr>
        <p:spPr>
          <a:xfrm>
            <a:off x="4008120" y="2013711"/>
            <a:ext cx="310896" cy="310896"/>
          </a:xfrm>
          <a:prstGeom prst="rightArrow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ght Arrow 19">
            <a:extLst>
              <a:ext uri="{FF2B5EF4-FFF2-40B4-BE49-F238E27FC236}">
                <a16:creationId xmlns:a16="http://schemas.microsoft.com/office/drawing/2014/main" id="{AC3537B8-3B29-47B0-BD42-80A00D0ECACE}"/>
              </a:ext>
            </a:extLst>
          </p:cNvPr>
          <p:cNvSpPr/>
          <p:nvPr/>
        </p:nvSpPr>
        <p:spPr>
          <a:xfrm rot="10800000">
            <a:off x="4211320" y="3984751"/>
            <a:ext cx="310896" cy="310896"/>
          </a:xfrm>
          <a:prstGeom prst="rightArrow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19">
            <a:extLst>
              <a:ext uri="{FF2B5EF4-FFF2-40B4-BE49-F238E27FC236}">
                <a16:creationId xmlns:a16="http://schemas.microsoft.com/office/drawing/2014/main" id="{08B9188E-E956-C310-6834-F66AC24CC334}"/>
              </a:ext>
            </a:extLst>
          </p:cNvPr>
          <p:cNvSpPr/>
          <p:nvPr/>
        </p:nvSpPr>
        <p:spPr>
          <a:xfrm rot="10800000">
            <a:off x="8061960" y="3954271"/>
            <a:ext cx="310896" cy="310896"/>
          </a:xfrm>
          <a:prstGeom prst="rightArrow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ght Arrow 19">
            <a:extLst>
              <a:ext uri="{FF2B5EF4-FFF2-40B4-BE49-F238E27FC236}">
                <a16:creationId xmlns:a16="http://schemas.microsoft.com/office/drawing/2014/main" id="{D30DB746-7EBF-7CCE-0223-CE48F9238A3B}"/>
              </a:ext>
            </a:extLst>
          </p:cNvPr>
          <p:cNvSpPr/>
          <p:nvPr/>
        </p:nvSpPr>
        <p:spPr>
          <a:xfrm rot="5400000">
            <a:off x="9880600" y="2806191"/>
            <a:ext cx="310896" cy="310896"/>
          </a:xfrm>
          <a:prstGeom prst="rightArrow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ight Arrow 19">
            <a:extLst>
              <a:ext uri="{FF2B5EF4-FFF2-40B4-BE49-F238E27FC236}">
                <a16:creationId xmlns:a16="http://schemas.microsoft.com/office/drawing/2014/main" id="{5943B065-CE38-A11A-F9EA-C8F1AA9A4157}"/>
              </a:ext>
            </a:extLst>
          </p:cNvPr>
          <p:cNvSpPr/>
          <p:nvPr/>
        </p:nvSpPr>
        <p:spPr>
          <a:xfrm>
            <a:off x="7858760" y="2064511"/>
            <a:ext cx="310896" cy="310896"/>
          </a:xfrm>
          <a:prstGeom prst="rightArrow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005840" cy="50292"/>
          </a:xfrm>
          <a:prstGeom prst="rect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27048"/>
            <a:ext cx="48371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Language &amp; ETL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9384"/>
            <a:ext cx="4837176" cy="274319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Python, pandas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16636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65392" y="1527048"/>
            <a:ext cx="48371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Processed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29384"/>
            <a:ext cx="4837176" cy="274319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Parquet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516636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670048"/>
            <a:ext cx="48371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72384"/>
            <a:ext cx="4837176" cy="274319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560320"/>
            <a:ext cx="516636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2670048"/>
            <a:ext cx="48371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072384"/>
            <a:ext cx="4837176" cy="274319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FastAPI, SQLAlchemy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516636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813048"/>
            <a:ext cx="48371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215383"/>
            <a:ext cx="4837176" cy="274319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React.js, Vite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703320"/>
            <a:ext cx="516636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3813048"/>
            <a:ext cx="48371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215383"/>
            <a:ext cx="4837176" cy="274319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JWT authentication, RBAC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6320"/>
            <a:ext cx="516636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4956048"/>
            <a:ext cx="48371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API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358383"/>
            <a:ext cx="4837176" cy="274319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Local API testing and database connection checks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846320"/>
            <a:ext cx="5166360" cy="86868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5392" y="4956048"/>
            <a:ext cx="483717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Source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5358383"/>
            <a:ext cx="4837176" cy="274319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Git and GitHub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528816"/>
            <a:ext cx="987552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Retail Transaction Analytics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28816"/>
            <a:ext cx="457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Dashboard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005840" cy="50292"/>
          </a:xfrm>
          <a:prstGeom prst="rect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669280" cy="4480560"/>
          </a:xfrm>
          <a:prstGeom prst="rect">
            <a:avLst/>
          </a:prstGeom>
          <a:noFill/>
        </p:spPr>
        <p:txBody>
          <a:bodyPr wrap="square" lIns="73152" tIns="36576" rIns="36576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Overview: headline transaction and revenue metrics.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Sales Analytics: inspect sales trends and country-level performance.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Customer Analytics: explore customer-level metrics.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Product Management: search, sort, paginate, and manage product records.</a:t>
            </a:r>
          </a:p>
          <a:p>
            <a:pPr>
              <a:spcAft>
                <a:spcPts val="10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•  Authentication: sign in and verify access by role.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645920"/>
            <a:ext cx="457200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76872" y="1755648"/>
            <a:ext cx="424281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C68A8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6872" y="2157984"/>
            <a:ext cx="4242816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uvicorn src.api.main:app --reload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3108960"/>
            <a:ext cx="457200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76872" y="3218688"/>
            <a:ext cx="424281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6872" y="3621024"/>
            <a:ext cx="4242816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Run the React/Vite app using the project's configured npm script.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4572000"/>
            <a:ext cx="457200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76872" y="4681728"/>
            <a:ext cx="424281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DD8431"/>
                </a:solidFill>
                <a:latin typeface="Aptos"/>
              </a:defRPr>
            </a:pPr>
            <a:r>
              <a:t>Demo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5084064"/>
            <a:ext cx="4242816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Login → Overview → Analytics →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28816"/>
            <a:ext cx="987552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Retail Transaction Analytics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28816"/>
            <a:ext cx="457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Evaluation Results &amp; Actual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005840" cy="50292"/>
          </a:xfrm>
          <a:prstGeom prst="rect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375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55063"/>
            <a:ext cx="3063240" cy="4389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238285"/>
                </a:solidFill>
                <a:latin typeface="Aptos"/>
              </a:defRPr>
            </a:pPr>
            <a:r>
              <a:t>1,067,371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306324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5F6C7A"/>
                </a:solidFill>
                <a:latin typeface="Aptos"/>
              </a:defRPr>
            </a:pPr>
            <a:r>
              <a:t>Raw records extracted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33375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655063"/>
            <a:ext cx="3063240" cy="4389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238285"/>
                </a:solidFill>
                <a:latin typeface="Aptos"/>
              </a:defRPr>
            </a:pPr>
            <a:r>
              <a:t>1,055,233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30552"/>
            <a:ext cx="306324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5F6C7A"/>
                </a:solidFill>
                <a:latin typeface="Aptos"/>
              </a:defRPr>
            </a:pPr>
            <a:r>
              <a:t>Records after cleaning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508760"/>
            <a:ext cx="33375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655063"/>
            <a:ext cx="3063240" cy="4389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238285"/>
                </a:solidFill>
                <a:latin typeface="Aptos"/>
              </a:defRPr>
            </a:pPr>
            <a:r>
              <a:t>53,623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130552"/>
            <a:ext cx="306324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5F6C7A"/>
                </a:solidFill>
                <a:latin typeface="Aptos"/>
              </a:defRPr>
            </a:pPr>
            <a:r>
              <a:t>Unique invoices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17520"/>
            <a:ext cx="33375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163824"/>
            <a:ext cx="3063240" cy="4389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238285"/>
                </a:solidFill>
                <a:latin typeface="Aptos"/>
              </a:defRPr>
            </a:pPr>
            <a:r>
              <a:t>5,131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39312"/>
            <a:ext cx="306324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5F6C7A"/>
                </a:solidFill>
                <a:latin typeface="Aptos"/>
              </a:defRPr>
            </a:pPr>
            <a:r>
              <a:t>Unique products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017520"/>
            <a:ext cx="33375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3163824"/>
            <a:ext cx="3063240" cy="4389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238285"/>
                </a:solidFill>
                <a:latin typeface="Aptos"/>
              </a:defRPr>
            </a:pPr>
            <a:r>
              <a:t>5,942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639312"/>
            <a:ext cx="306324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5F6C7A"/>
                </a:solidFill>
                <a:latin typeface="Aptos"/>
              </a:defRPr>
            </a:pPr>
            <a:r>
              <a:t>Unique customers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017520"/>
            <a:ext cx="33375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3163824"/>
            <a:ext cx="3063240" cy="4389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238285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639312"/>
            <a:ext cx="306324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5F6C7A"/>
                </a:solidFill>
                <a:latin typeface="Aptos"/>
              </a:defRPr>
            </a:pPr>
            <a:r>
              <a:t>Countries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83480"/>
            <a:ext cx="10515600" cy="7315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7365D"/>
                </a:solidFill>
                <a:latin typeface="Aptos"/>
              </a:defRPr>
            </a:pPr>
            <a:r>
              <a:t>Total transaction value: 19,390,476.658 (dataset currency units). Average order value: 361.61. Database verification confirmed 1,055,233 transaction rows.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5F6C7A"/>
                </a:solidFill>
                <a:latin typeface="Aptos"/>
              </a:defRPr>
            </a:pPr>
            <a:r>
              <a:t>Evaluation shown here is data profiling and functional verification; no LLM/RAG evaluation was performed.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28816"/>
            <a:ext cx="987552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Retail Transaction Analytics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28816"/>
            <a:ext cx="457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Challenges, Learnings &amp; Future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1005840" cy="50292"/>
          </a:xfrm>
          <a:prstGeom prst="rect">
            <a:avLst/>
          </a:prstGeom>
          <a:solidFill>
            <a:srgbClr val="23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1188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527048"/>
            <a:ext cx="328269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29384"/>
            <a:ext cx="3282696" cy="2880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• Large workbook and two source sheets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• Duplicate and negative-quantity records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• Many missing customer IDs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• Coordinating ETL, database, API, and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61188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62272" y="1527048"/>
            <a:ext cx="328269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Learnings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1929384"/>
            <a:ext cx="3282696" cy="2880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• Profiling before cleaning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• Repeatable ETL pipeline design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• SQL aggregation and indexing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• API integration and JWT/RBAC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61188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5592" y="1527048"/>
            <a:ext cx="3282696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8285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1929384"/>
            <a:ext cx="3282696" cy="2880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• Add automated tests and monitoring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• Improve data-quality reporting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• Add scheduled ETL refreshes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• Add forecasting or GenAI features only as a future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7365D"/>
                </a:solidFill>
                <a:latin typeface="Aptos"/>
              </a:defRPr>
            </a:pPr>
            <a:r>
              <a:t>Conclusion: a full-stack retail analytics workflow from raw data ingestion to interactive business reporting.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28816"/>
            <a:ext cx="987552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Retail Transaction Analytics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28816"/>
            <a:ext cx="457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0DEA2-BDDE-22FA-863D-134911CA0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F68997-9CD2-C601-FDD5-7869B09ECD7D}"/>
              </a:ext>
            </a:extLst>
          </p:cNvPr>
          <p:cNvSpPr/>
          <p:nvPr/>
        </p:nvSpPr>
        <p:spPr>
          <a:xfrm>
            <a:off x="-2032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891D03-2DC8-E519-5706-DC92411D0A1E}"/>
              </a:ext>
            </a:extLst>
          </p:cNvPr>
          <p:cNvSpPr txBox="1"/>
          <p:nvPr/>
        </p:nvSpPr>
        <p:spPr>
          <a:xfrm>
            <a:off x="3886200" y="2479040"/>
            <a:ext cx="4368800" cy="1892826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lang="en-US" sz="6000" dirty="0"/>
              <a:t>Thank       </a:t>
            </a:r>
            <a:r>
              <a:rPr lang="en-US" sz="6000"/>
              <a:t>             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25B316-1679-12FE-457D-AF1BA6ACDB74}"/>
              </a:ext>
            </a:extLst>
          </p:cNvPr>
          <p:cNvSpPr txBox="1"/>
          <p:nvPr/>
        </p:nvSpPr>
        <p:spPr>
          <a:xfrm>
            <a:off x="530352" y="6528816"/>
            <a:ext cx="987552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Retail Transaction Analytics Platform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BAC63E-368B-593A-C636-F32E430E9C82}"/>
              </a:ext>
            </a:extLst>
          </p:cNvPr>
          <p:cNvSpPr txBox="1"/>
          <p:nvPr/>
        </p:nvSpPr>
        <p:spPr>
          <a:xfrm>
            <a:off x="11155680" y="6528816"/>
            <a:ext cx="457200" cy="164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F6C7A"/>
                </a:solidFill>
                <a:latin typeface="Aptos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91840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52</cp:revision>
  <dcterms:created xsi:type="dcterms:W3CDTF">2013-01-27T09:14:16Z</dcterms:created>
  <dcterms:modified xsi:type="dcterms:W3CDTF">2026-10-11T12:06:36Z</dcterms:modified>
  <cp:category/>
</cp:coreProperties>
</file>